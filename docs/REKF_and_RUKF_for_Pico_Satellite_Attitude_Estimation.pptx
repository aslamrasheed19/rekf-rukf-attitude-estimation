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226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2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047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4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0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3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3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3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9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2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5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34" r:id="rId6"/>
    <p:sldLayoutId id="2147483730" r:id="rId7"/>
    <p:sldLayoutId id="2147483731" r:id="rId8"/>
    <p:sldLayoutId id="2147483732" r:id="rId9"/>
    <p:sldLayoutId id="2147483733" r:id="rId10"/>
    <p:sldLayoutId id="214748373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B92A-9FE4-3700-D7AC-B16FEF617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5130" y="1066800"/>
            <a:ext cx="8112369" cy="2636520"/>
          </a:xfrm>
        </p:spPr>
        <p:txBody>
          <a:bodyPr>
            <a:normAutofit fontScale="90000"/>
          </a:bodyPr>
          <a:lstStyle/>
          <a:p>
            <a:r>
              <a:rPr lang="en-US" dirty="0"/>
              <a:t>REKF and RUKF for Pico Satellite Attitude Estimation in the Presence of Measurement Faults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A Robust Approach to Sensor Malfunctions</a:t>
            </a:r>
            <a:endParaRPr lang="en-IN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3CBCA-E7FD-53D6-18C7-5F530824EB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Based on Paper by:</a:t>
            </a:r>
            <a:r>
              <a:rPr lang="en-US" dirty="0"/>
              <a:t> Halil Ersin </a:t>
            </a:r>
            <a:r>
              <a:rPr lang="en-US" dirty="0" err="1"/>
              <a:t>Söken</a:t>
            </a:r>
            <a:r>
              <a:rPr lang="en-US" dirty="0"/>
              <a:t> and Chingiz Hajiyev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69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1421-9FFD-BCFF-2CD1-A64A9339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10134600" cy="656844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DBCB4-F5C4-72BF-C8DD-3A0AABFB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709928"/>
            <a:ext cx="10134600" cy="442131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Pico satellites rely on magnetometers and Kalman Filters (EKF/UKF) for attitude estimation.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Standard filters assume fixed noise characteristics. They lack the capability to adapt to sensor malfunctions (e.g., abnormal measurements or sudden shifts).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a sensor fails, standard filters produce inaccurate results and diverge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Pico satellites have limited computational power; complex robust methods (like parallel filters) are often too heavy. A lightweight, robust solution is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5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B6AC-F5F5-CFEF-D863-5F455C2A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10134600" cy="720852"/>
          </a:xfrm>
        </p:spPr>
        <p:txBody>
          <a:bodyPr/>
          <a:lstStyle/>
          <a:p>
            <a:pPr algn="ctr"/>
            <a:r>
              <a:rPr lang="en-IN" dirty="0"/>
              <a:t>Problem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88680-A53C-0E44-6913-F70183D8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State Variables:</a:t>
            </a:r>
            <a:r>
              <a:rPr lang="en-IN" dirty="0"/>
              <a:t> 6-dimensional vector containing Euler angles (Roll </a:t>
            </a:r>
            <a:r>
              <a:rPr lang="el-GR" dirty="0"/>
              <a:t>φ</a:t>
            </a:r>
            <a:r>
              <a:rPr lang="en-IN" dirty="0"/>
              <a:t>, Pitch </a:t>
            </a:r>
            <a:r>
              <a:rPr lang="el-GR" dirty="0"/>
              <a:t>θ</a:t>
            </a:r>
            <a:r>
              <a:rPr lang="en-IN" dirty="0"/>
              <a:t>, Yaw </a:t>
            </a:r>
            <a:r>
              <a:rPr lang="el-GR" i="1" dirty="0"/>
              <a:t>ψ</a:t>
            </a:r>
            <a:r>
              <a:rPr lang="en-IN" i="1" dirty="0"/>
              <a:t>) </a:t>
            </a:r>
            <a:r>
              <a:rPr lang="en-IN" dirty="0"/>
              <a:t>and body angular rates (</a:t>
            </a:r>
            <a:r>
              <a:rPr lang="el-GR" i="1" dirty="0"/>
              <a:t>ω</a:t>
            </a:r>
            <a:r>
              <a:rPr lang="en-IN" i="1" baseline="-25000" dirty="0"/>
              <a:t>x </a:t>
            </a:r>
            <a:r>
              <a:rPr lang="en-IN" i="1" dirty="0"/>
              <a:t>,</a:t>
            </a:r>
            <a:r>
              <a:rPr lang="el-GR" i="1" dirty="0"/>
              <a:t>ω</a:t>
            </a:r>
            <a:r>
              <a:rPr lang="en-IN" i="1" baseline="-25000" dirty="0"/>
              <a:t>y </a:t>
            </a:r>
            <a:r>
              <a:rPr lang="en-IN" i="1" dirty="0"/>
              <a:t>,</a:t>
            </a:r>
            <a:r>
              <a:rPr lang="el-GR" i="1" dirty="0"/>
              <a:t>ω</a:t>
            </a:r>
            <a:r>
              <a:rPr lang="en-IN" i="1" baseline="-25000" dirty="0"/>
              <a:t>z </a:t>
            </a:r>
            <a:r>
              <a:rPr lang="en-IN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Measurements:</a:t>
            </a:r>
            <a:r>
              <a:rPr lang="en-US" dirty="0"/>
              <a:t> Earth magnetic field vector components measured by a </a:t>
            </a:r>
            <a:r>
              <a:rPr lang="en-IN" dirty="0"/>
              <a:t>Three-Axis Magnetometer (TAM).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Noise Assumptions: </a:t>
            </a:r>
            <a:r>
              <a:rPr lang="en-US" dirty="0"/>
              <a:t>Process and measurement noise are zero-mean Gaussian white noise, Uncorrelated process and measurement noise.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Gap Addressed:</a:t>
            </a:r>
            <a:r>
              <a:rPr lang="en-US" dirty="0"/>
              <a:t> Developing a fault-tolerant estimation algorithm that modifies the filter gain </a:t>
            </a:r>
            <a:r>
              <a:rPr lang="en-US" i="1" dirty="0"/>
              <a:t>only</a:t>
            </a:r>
            <a:r>
              <a:rPr lang="en-US" dirty="0"/>
              <a:t> when measurements are corrupted, without high computational cost.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640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0711-BA95-F017-AE1F-397E1F99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848867"/>
          </a:xfrm>
        </p:spPr>
        <p:txBody>
          <a:bodyPr/>
          <a:lstStyle/>
          <a:p>
            <a:pPr algn="ctr"/>
            <a:r>
              <a:rPr lang="en-IN" dirty="0"/>
              <a:t>Method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BB42-F244-B303-D74F-4DA52A81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Key Concept: </a:t>
            </a:r>
            <a:r>
              <a:rPr lang="en-IN" dirty="0"/>
              <a:t>Measurement Noise Scale Factor (MNSF) or S(</a:t>
            </a:r>
            <a:r>
              <a:rPr lang="en-IN" i="1" dirty="0"/>
              <a:t>k</a:t>
            </a:r>
            <a:r>
              <a:rPr lang="en-IN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Mechanism:</a:t>
            </a:r>
          </a:p>
          <a:p>
            <a:pPr marL="617220" lvl="1" indent="-342900">
              <a:buFont typeface="Wingdings" panose="05000000000000000000" pitchFamily="2" charset="2"/>
              <a:buChar char="Ø"/>
            </a:pPr>
            <a:r>
              <a:rPr lang="en-US" dirty="0"/>
              <a:t>The filter monitors the "innovation" sequence (residual error).</a:t>
            </a:r>
          </a:p>
          <a:p>
            <a:pPr marL="617220" lvl="1" indent="-342900">
              <a:buFont typeface="Wingdings" panose="05000000000000000000" pitchFamily="2" charset="2"/>
              <a:buChar char="Ø"/>
            </a:pPr>
            <a:r>
              <a:rPr lang="en-US" dirty="0"/>
              <a:t>If the actual error exceeds the theoretical covariance, a fault is declared.</a:t>
            </a:r>
          </a:p>
          <a:p>
            <a:pPr marL="617220" lvl="1" indent="-342900">
              <a:buFont typeface="Wingdings" panose="05000000000000000000" pitchFamily="2" charset="2"/>
              <a:buChar char="Ø"/>
            </a:pPr>
            <a:r>
              <a:rPr lang="en-IN" dirty="0"/>
              <a:t>The algorithm calculates S(</a:t>
            </a:r>
            <a:r>
              <a:rPr lang="en-IN" i="1" dirty="0"/>
              <a:t>k</a:t>
            </a:r>
            <a:r>
              <a:rPr lang="en-IN" dirty="0"/>
              <a:t>) </a:t>
            </a:r>
            <a:r>
              <a:rPr lang="en-US" dirty="0"/>
              <a:t>to inflate the measurement noise </a:t>
            </a:r>
            <a:r>
              <a:rPr lang="en-IN" dirty="0"/>
              <a:t>covariance R(</a:t>
            </a:r>
            <a:r>
              <a:rPr lang="en-IN" i="1" dirty="0"/>
              <a:t>k</a:t>
            </a:r>
            <a:r>
              <a:rPr lang="en-IN" dirty="0"/>
              <a:t>).</a:t>
            </a:r>
          </a:p>
          <a:p>
            <a:pPr marL="617220" lvl="1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Result: </a:t>
            </a:r>
            <a:r>
              <a:rPr lang="en-IN" dirty="0"/>
              <a:t>The Kalman Gain K </a:t>
            </a:r>
            <a:r>
              <a:rPr lang="en-US" dirty="0"/>
              <a:t>decreases, reducing the weight of the faulty measurement in the state update.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7027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A038-ED38-4525-900D-CB5647FE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10134600" cy="56540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B01EB-7F82-6A9F-943D-4FAAE2BC6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721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4638-9DC8-820D-6A5A-43FC3E97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10134600" cy="794004"/>
          </a:xfrm>
        </p:spPr>
        <p:txBody>
          <a:bodyPr/>
          <a:lstStyle/>
          <a:p>
            <a:pPr algn="ctr"/>
            <a:r>
              <a:rPr lang="en-IN" dirty="0"/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81CFF-9D6F-3AD6-D5AB-F6FE891F2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Simulation of Pico Satellite Dynamics on MATLAB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Circular Orbit, Altitude r = 550 km, Inclination I = 97°.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Initial Conditions and Noise:</a:t>
            </a:r>
          </a:p>
          <a:p>
            <a:pPr marL="617220" lvl="1" indent="-342900"/>
            <a:r>
              <a:rPr lang="en-IN" dirty="0"/>
              <a:t>Magnetometer standard deviation: </a:t>
            </a:r>
            <a:r>
              <a:rPr lang="el-GR" dirty="0"/>
              <a:t>σ</a:t>
            </a:r>
            <a:r>
              <a:rPr lang="en-IN" baseline="-25000" dirty="0"/>
              <a:t>m</a:t>
            </a:r>
            <a:r>
              <a:rPr lang="en-IN" dirty="0"/>
              <a:t>= 200 </a:t>
            </a:r>
            <a:r>
              <a:rPr lang="en-IN" dirty="0" err="1"/>
              <a:t>nT</a:t>
            </a:r>
            <a:endParaRPr lang="en-IN" dirty="0"/>
          </a:p>
          <a:p>
            <a:pPr marL="617220" lvl="1" indent="-342900"/>
            <a:r>
              <a:rPr lang="en-IN" dirty="0"/>
              <a:t>Gyro random error: </a:t>
            </a:r>
            <a:r>
              <a:rPr lang="el-GR" dirty="0"/>
              <a:t>σ</a:t>
            </a:r>
            <a:r>
              <a:rPr lang="en-IN" baseline="-25000" dirty="0"/>
              <a:t>v</a:t>
            </a:r>
            <a:r>
              <a:rPr lang="en-IN" dirty="0"/>
              <a:t>= 9.19 X 10</a:t>
            </a:r>
            <a:r>
              <a:rPr lang="en-IN" baseline="30000" dirty="0"/>
              <a:t>-7</a:t>
            </a:r>
            <a:r>
              <a:rPr lang="en-IN" dirty="0"/>
              <a:t> rad/s.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Experiment:</a:t>
            </a:r>
          </a:p>
          <a:p>
            <a:pPr marL="560070" lvl="1" indent="-285750"/>
            <a:r>
              <a:rPr lang="en-IN" dirty="0"/>
              <a:t>Duration: 500 seconds.</a:t>
            </a:r>
          </a:p>
          <a:p>
            <a:pPr marL="560070" lvl="1" indent="-285750"/>
            <a:r>
              <a:rPr lang="en-IN" dirty="0"/>
              <a:t>Fault Injection: A constant </a:t>
            </a:r>
            <a:r>
              <a:rPr lang="en-US" dirty="0"/>
              <a:t>bias term is added to one magnetometer measurement at t = 300s </a:t>
            </a:r>
            <a:r>
              <a:rPr lang="en-IN" dirty="0"/>
              <a:t>to simulate a malfunction.</a:t>
            </a:r>
          </a:p>
        </p:txBody>
      </p:sp>
    </p:spTree>
    <p:extLst>
      <p:ext uri="{BB962C8B-B14F-4D97-AF65-F5344CB8AC3E}">
        <p14:creationId xmlns:p14="http://schemas.microsoft.com/office/powerpoint/2010/main" val="17786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7817-CAC5-C4C5-C522-D4D3E2C3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639679"/>
          </a:xfrm>
        </p:spPr>
        <p:txBody>
          <a:bodyPr/>
          <a:lstStyle/>
          <a:p>
            <a:pPr algn="ctr"/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CB95-77D4-D85B-1EF2-B4BBE2583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Standard EKF: At t = 300s (fault injection), </a:t>
            </a:r>
            <a:r>
              <a:rPr lang="en-US" dirty="0"/>
              <a:t>the Roll angle estimation error spikes significantly and does not recover.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REKF: Detects the fault. The error increases slightly but remains bounded and accurate </a:t>
            </a:r>
            <a:r>
              <a:rPr lang="en-IN" dirty="0"/>
              <a:t>compared to EKF.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MNSF Behavior: The Scale Factor S(</a:t>
            </a:r>
            <a:r>
              <a:rPr lang="en-US" i="1" dirty="0"/>
              <a:t>k</a:t>
            </a:r>
            <a:r>
              <a:rPr lang="en-US" dirty="0"/>
              <a:t>) stays at 1.0 during normal operation and spikes to </a:t>
            </a:r>
          </a:p>
          <a:p>
            <a:r>
              <a:rPr lang="en-US" dirty="0"/>
              <a:t>     6 X 10</a:t>
            </a:r>
            <a:r>
              <a:rPr lang="en-US" baseline="30000" dirty="0"/>
              <a:t>8 </a:t>
            </a:r>
            <a:r>
              <a:rPr lang="en-US" dirty="0"/>
              <a:t>at t = 300s to reject the fault.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2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4FAD-7FF1-98F1-FAAE-A0481505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10134600" cy="800100"/>
          </a:xfrm>
        </p:spPr>
        <p:txBody>
          <a:bodyPr/>
          <a:lstStyle/>
          <a:p>
            <a:pPr algn="ctr"/>
            <a:r>
              <a:rPr lang="en-IN" dirty="0"/>
              <a:t>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AD2C-731C-52ED-A5DE-0D9F23864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Like the EKF, the standard UKF produces unreliable results when measurements are faulty.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RUKF maintains estimation characteristics throughout the malfunction.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645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49C6-C43F-A91C-B78D-14B97FE5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671763"/>
          </a:xfrm>
        </p:spPr>
        <p:txBody>
          <a:bodyPr/>
          <a:lstStyle/>
          <a:p>
            <a:pPr algn="ctr"/>
            <a:r>
              <a:rPr lang="en-IN" dirty="0"/>
              <a:t>Interpretation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252DF-7625-8F4B-8484-53FC0185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Why it works:</a:t>
            </a:r>
            <a:r>
              <a:rPr lang="en-US" dirty="0"/>
              <a:t> The huge increase in S(k) effectively tells the filter to "ignore" the current measurement update and rely on the system model propagation. This isolates the fault.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Why RUKF &gt; REKF:</a:t>
            </a:r>
            <a:r>
              <a:rPr lang="en-US" dirty="0"/>
              <a:t> The UKF captures higher-order statistics of the system nonlinearity using sigma points, whereas REKF relies on linearization (Jacobians), which introduces errors in highly nonlinear dynamics.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Practicality:</a:t>
            </a:r>
            <a:r>
              <a:rPr lang="en-US" dirty="0"/>
              <a:t> The algorithm adds minimal computational load (simple trace calculations), satisfying the 10% mass/power constraint of </a:t>
            </a:r>
            <a:r>
              <a:rPr lang="en-US" dirty="0" err="1"/>
              <a:t>pico</a:t>
            </a:r>
            <a:r>
              <a:rPr lang="en-US" dirty="0"/>
              <a:t> satellites.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383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7B9A-EC8C-206B-CB0B-1EF617FE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719889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E929-F4BF-9785-5C19-E9C713100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paper introduced REKF and RUKF with an adaptive Measurement Noise Scale Factor (MNSF) to handle sensor faults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Both robust filters outperform their optimal counterparts during malfunctions.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RUKF is the preferred method for </a:t>
            </a:r>
            <a:r>
              <a:rPr lang="en-US" dirty="0" err="1"/>
              <a:t>pico</a:t>
            </a:r>
            <a:r>
              <a:rPr lang="en-US" dirty="0"/>
              <a:t> satellites as it offers higher accuracy than REKF without significant computational burden.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Simple adaptive scaling of noise covariance is an effective, lightweight strategy for spacecraft fault tolerance.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718954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643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Bembo</vt:lpstr>
      <vt:lpstr>Wingdings</vt:lpstr>
      <vt:lpstr>AdornVTI</vt:lpstr>
      <vt:lpstr>REKF and RUKF for Pico Satellite Attitude Estimation in the Presence of Measurement Faults  A Robust Approach to Sensor Malfunctions</vt:lpstr>
      <vt:lpstr>Problem Statement</vt:lpstr>
      <vt:lpstr>Problem Setup</vt:lpstr>
      <vt:lpstr>Method Overview</vt:lpstr>
      <vt:lpstr>Model</vt:lpstr>
      <vt:lpstr>Simulation Setup</vt:lpstr>
      <vt:lpstr>Results</vt:lpstr>
      <vt:lpstr>Comparisons</vt:lpstr>
      <vt:lpstr>Interpretation &amp;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Aslam A</dc:creator>
  <cp:lastModifiedBy>Muhammed Aslam A</cp:lastModifiedBy>
  <cp:revision>1</cp:revision>
  <dcterms:created xsi:type="dcterms:W3CDTF">2025-11-25T08:17:54Z</dcterms:created>
  <dcterms:modified xsi:type="dcterms:W3CDTF">2025-11-25T09:09:40Z</dcterms:modified>
</cp:coreProperties>
</file>